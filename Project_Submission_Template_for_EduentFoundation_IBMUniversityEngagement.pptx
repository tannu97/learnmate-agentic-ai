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86"/>
  </p:normalViewPr>
  <p:slideViewPr>
    <p:cSldViewPr snapToGrid="0">
      <p:cViewPr>
        <p:scale>
          <a:sx n="100" d="100"/>
          <a:sy n="100" d="100"/>
        </p:scale>
        <p:origin x="5" y="-2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3354042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TANNU</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tannuhry@gmail.com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7818032157</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like Agriculture / Education / Healthcare / …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Times New Roman"/>
                <a:ea typeface="Times New Roman"/>
                <a:cs typeface="Times New Roman"/>
                <a:sym typeface="Times New Roman"/>
              </a:rPr>
              <a:t>Write your project title here</a:t>
            </a:r>
            <a:r>
              <a:rPr lang="en-US" sz="2400" b="1" dirty="0">
                <a:highlight>
                  <a:srgbClr val="FFFF00"/>
                </a:highlight>
              </a:rPr>
              <a:t>]</a:t>
            </a:r>
            <a:endParaRPr lang="en-IN" sz="2400" b="1" dirty="0">
              <a:highlight>
                <a:srgbClr val="FFFF00"/>
              </a:highlight>
            </a:endParaRPr>
          </a:p>
        </p:txBody>
      </p:sp>
      <p:pic>
        <p:nvPicPr>
          <p:cNvPr id="3" name="Picture 2">
            <a:extLst>
              <a:ext uri="{FF2B5EF4-FFF2-40B4-BE49-F238E27FC236}">
                <a16:creationId xmlns:a16="http://schemas.microsoft.com/office/drawing/2014/main" id="{BBB2657C-0D1B-0E5E-3F48-C671191FFE4C}"/>
              </a:ext>
            </a:extLst>
          </p:cNvPr>
          <p:cNvPicPr>
            <a:picLocks noChangeAspect="1"/>
          </p:cNvPicPr>
          <p:nvPr/>
        </p:nvPicPr>
        <p:blipFill>
          <a:blip r:embed="rId3"/>
          <a:stretch>
            <a:fillRect/>
          </a:stretch>
        </p:blipFill>
        <p:spPr>
          <a:xfrm>
            <a:off x="4104923" y="3767122"/>
            <a:ext cx="786390" cy="8117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401205"/>
          </a:xfrm>
          <a:prstGeom prst="rect">
            <a:avLst/>
          </a:prstGeom>
          <a:noFill/>
        </p:spPr>
        <p:txBody>
          <a:bodyPr wrap="square" rtlCol="0">
            <a:spAutoFit/>
          </a:bodyPr>
          <a:lstStyle/>
          <a:p>
            <a:pPr fontAlgn="base"/>
            <a:r>
              <a:rPr lang="en-US" b="1" dirty="0"/>
              <a:t>Problem Statement: </a:t>
            </a:r>
            <a:r>
              <a:rPr lang="en-US" b="1" dirty="0" err="1"/>
              <a:t>LearnMate</a:t>
            </a:r>
            <a:r>
              <a:rPr lang="en-US" b="1" dirty="0"/>
              <a:t> - Agentic AI for Personalized Course Pathways</a:t>
            </a:r>
          </a:p>
          <a:p>
            <a:pPr fontAlgn="base"/>
            <a:endParaRPr lang="en-US" b="1" dirty="0"/>
          </a:p>
          <a:p>
            <a:pPr fontAlgn="base"/>
            <a:r>
              <a:rPr lang="en-US" b="1" dirty="0"/>
              <a:t>The Challenge</a:t>
            </a:r>
            <a:r>
              <a:rPr lang="en-US" dirty="0"/>
              <a:t> </a:t>
            </a:r>
          </a:p>
          <a:p>
            <a:r>
              <a:rPr lang="en-US" dirty="0"/>
              <a:t>Students often struggle to choose the right learning path because of too many online courses and lack of personalized guidance. They are unsure what to learn, where to start, and how to reach their career goals.</a:t>
            </a:r>
          </a:p>
          <a:p>
            <a:endParaRPr lang="en-US" dirty="0"/>
          </a:p>
          <a:p>
            <a:pPr fontAlgn="base"/>
            <a:r>
              <a:rPr lang="en-US" b="1" dirty="0"/>
              <a:t>The Objective</a:t>
            </a:r>
            <a:r>
              <a:rPr lang="en-US" dirty="0"/>
              <a:t> </a:t>
            </a:r>
          </a:p>
          <a:p>
            <a:pPr fontAlgn="base"/>
            <a:r>
              <a:rPr lang="en-US" dirty="0"/>
              <a:t>Build an AI-powered </a:t>
            </a:r>
            <a:r>
              <a:rPr lang="en-US" dirty="0" err="1"/>
              <a:t>LearnMate</a:t>
            </a:r>
            <a:r>
              <a:rPr lang="en-US" dirty="0"/>
              <a:t> Agent that understands a student’s interests, current skills, skill level, study time, and goals to create a personalized course roadmap.</a:t>
            </a:r>
          </a:p>
          <a:p>
            <a:pPr fontAlgn="base"/>
            <a:endParaRPr lang="en-US" b="1" dirty="0"/>
          </a:p>
          <a:p>
            <a:pPr fontAlgn="base"/>
            <a:r>
              <a:rPr lang="en-US" b="1" dirty="0"/>
              <a:t>Personalized Roadmaps</a:t>
            </a:r>
            <a:r>
              <a:rPr lang="en-US" dirty="0"/>
              <a:t> - Recommend learning paths based on goals, skills, timeline, and preferences.</a:t>
            </a:r>
          </a:p>
          <a:p>
            <a:pPr marL="285750" indent="-285750" fontAlgn="base">
              <a:buFont typeface="Arial" panose="020B0604020202020204" pitchFamily="34" charset="0"/>
              <a:buChar char="•"/>
            </a:pPr>
            <a:r>
              <a:rPr lang="en-US" b="1" dirty="0"/>
              <a:t>Skill Assessment</a:t>
            </a:r>
            <a:r>
              <a:rPr lang="en-US" dirty="0"/>
              <a:t> - Identify whether the student is Beginner, Intermediate, or Advanced.. </a:t>
            </a:r>
          </a:p>
          <a:p>
            <a:pPr marL="285750" indent="-285750">
              <a:buFont typeface="Arial" panose="020B0604020202020204" pitchFamily="34" charset="0"/>
              <a:buChar char="•"/>
            </a:pPr>
            <a:r>
              <a:rPr lang="en-US" b="1" dirty="0"/>
              <a:t>Skill Level Detection</a:t>
            </a:r>
            <a:r>
              <a:rPr lang="en-US" dirty="0"/>
              <a:t> - Identify Beginner, Intermediate, or Advanced level.</a:t>
            </a:r>
          </a:p>
          <a:p>
            <a:pPr marL="285750" indent="-285750">
              <a:buFont typeface="Arial" panose="020B0604020202020204" pitchFamily="34" charset="0"/>
              <a:buChar char="•"/>
            </a:pPr>
            <a:r>
              <a:rPr lang="en-US" b="1" dirty="0"/>
              <a:t>Adaptive Learning Plan</a:t>
            </a:r>
            <a:r>
              <a:rPr lang="en-US" dirty="0"/>
              <a:t> - Update the roadmap based on progress and changing preferences.</a:t>
            </a:r>
          </a:p>
          <a:p>
            <a:pPr marL="285750" indent="-285750">
              <a:buFont typeface="Arial" panose="020B0604020202020204" pitchFamily="34" charset="0"/>
              <a:buChar char="•"/>
            </a:pPr>
            <a:r>
              <a:rPr lang="en-US" b="1" dirty="0"/>
              <a:t>Multi-Agent System -</a:t>
            </a:r>
            <a:endParaRPr lang="en-US" dirty="0"/>
          </a:p>
          <a:p>
            <a:pPr marL="285750" indent="-285750">
              <a:buFont typeface="Arial" panose="020B0604020202020204" pitchFamily="34" charset="0"/>
              <a:buChar char="•"/>
            </a:pPr>
            <a:r>
              <a:rPr lang="en-US" b="1" dirty="0"/>
              <a:t>Goal Agent</a:t>
            </a:r>
            <a:r>
              <a:rPr lang="en-US" dirty="0"/>
              <a:t> - Understands what the student wants to learn or become.</a:t>
            </a:r>
          </a:p>
          <a:p>
            <a:pPr marL="285750" indent="-285750">
              <a:buFont typeface="Arial" panose="020B0604020202020204" pitchFamily="34" charset="0"/>
              <a:buChar char="•"/>
            </a:pPr>
            <a:r>
              <a:rPr lang="en-US" b="1" dirty="0"/>
              <a:t>Skill Agent</a:t>
            </a:r>
            <a:r>
              <a:rPr lang="en-US" dirty="0"/>
              <a:t> - Checks current skills and level.</a:t>
            </a:r>
          </a:p>
          <a:p>
            <a:pPr marL="285750" indent="-285750">
              <a:buFont typeface="Arial" panose="020B0604020202020204" pitchFamily="34" charset="0"/>
              <a:buChar char="•"/>
            </a:pPr>
            <a:r>
              <a:rPr lang="en-US" b="1" dirty="0"/>
              <a:t>Roadmap Agent</a:t>
            </a:r>
            <a:r>
              <a:rPr lang="en-US" dirty="0"/>
              <a:t> - Creates the personalized learning path.</a:t>
            </a:r>
          </a:p>
          <a:p>
            <a:pPr marL="285750" indent="-285750">
              <a:buFont typeface="Arial" panose="020B0604020202020204" pitchFamily="34" charset="0"/>
              <a:buChar char="•"/>
            </a:pPr>
            <a:r>
              <a:rPr lang="en-US" b="1" dirty="0"/>
              <a:t>Progress Agent</a:t>
            </a:r>
            <a:r>
              <a:rPr lang="en-US" dirty="0"/>
              <a:t> - Tracks learning progress and updates the plan.</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r>
              <a:rPr lang="en-IN" dirty="0"/>
              <a:t>Use </a:t>
            </a:r>
            <a:r>
              <a:rPr lang="en-IN" b="1" dirty="0"/>
              <a:t>any one</a:t>
            </a:r>
            <a:r>
              <a:rPr lang="en-IN" dirty="0"/>
              <a:t> of the following approaches: </a:t>
            </a:r>
          </a:p>
          <a:p>
            <a:pPr marL="285750" indent="-285750" fontAlgn="base">
              <a:buFont typeface="Arial" panose="020B0604020202020204" pitchFamily="34" charset="0"/>
              <a:buChar char="•"/>
            </a:pPr>
            <a:r>
              <a:rPr lang="en-IN" dirty="0" err="1"/>
              <a:t>LangFlow</a:t>
            </a:r>
            <a:r>
              <a:rPr lang="en-IN" dirty="0"/>
              <a:t> + IBM watsonx.ai + Granite Models </a:t>
            </a:r>
          </a:p>
          <a:p>
            <a:pPr marL="285750" indent="-285750" fontAlgn="base">
              <a:buFont typeface="Arial" panose="020B0604020202020204" pitchFamily="34" charset="0"/>
              <a:buChar char="•"/>
            </a:pPr>
            <a:r>
              <a:rPr lang="en-IN" dirty="0"/>
              <a:t>IBM Cloud Agentic Lab with IBM Granite Models </a:t>
            </a:r>
          </a:p>
          <a:p>
            <a:pPr marL="285750" indent="-285750" fontAlgn="base">
              <a:buFont typeface="Arial" panose="020B0604020202020204" pitchFamily="34" charset="0"/>
              <a:buChar char="•"/>
            </a:pPr>
            <a:r>
              <a:rPr lang="en-IN" dirty="0"/>
              <a:t>Replicate with </a:t>
            </a:r>
            <a:r>
              <a:rPr lang="en-IN" dirty="0" err="1"/>
              <a:t>LangChain</a:t>
            </a:r>
            <a:r>
              <a:rPr lang="en-IN" dirty="0"/>
              <a:t> + RAG + IBM Granite Models</a:t>
            </a:r>
          </a:p>
          <a:p>
            <a:pPr marL="285750" indent="-285750" fontAlgn="base">
              <a:buFont typeface="Arial" panose="020B0604020202020204" pitchFamily="34" charset="0"/>
              <a:buChar char="•"/>
            </a:pPr>
            <a:endParaRPr lang="en-IN" dirty="0"/>
          </a:p>
          <a:p>
            <a:pPr fontAlgn="base"/>
            <a:r>
              <a:rPr lang="en-IN" dirty="0"/>
              <a:t>I used </a:t>
            </a:r>
            <a:r>
              <a:rPr lang="en-IN" dirty="0" err="1">
                <a:highlight>
                  <a:srgbClr val="FFFF00"/>
                </a:highlight>
              </a:rPr>
              <a:t>LangFlow</a:t>
            </a:r>
            <a:r>
              <a:rPr lang="en-IN" dirty="0">
                <a:highlight>
                  <a:srgbClr val="FFFF00"/>
                </a:highlight>
              </a:rPr>
              <a:t> + IBM watsonx.ai + Granite Models </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85761"/>
          </a:xfrm>
          <a:prstGeom prst="rect">
            <a:avLst/>
          </a:prstGeom>
          <a:noFill/>
        </p:spPr>
        <p:txBody>
          <a:bodyPr wrap="square" rtlCol="0">
            <a:spAutoFit/>
          </a:bodyPr>
          <a:lstStyle/>
          <a:p>
            <a:pPr fontAlgn="base"/>
            <a:endParaRPr lang="en-US" b="1" dirty="0"/>
          </a:p>
          <a:p>
            <a:r>
              <a:rPr lang="en-US" b="1" dirty="0"/>
              <a:t>Proposed Solution: AI-Powered </a:t>
            </a:r>
            <a:r>
              <a:rPr lang="en-US" b="1" dirty="0" err="1"/>
              <a:t>LearnMate</a:t>
            </a:r>
            <a:r>
              <a:rPr lang="en-US" b="1" dirty="0"/>
              <a:t> Agent</a:t>
            </a:r>
          </a:p>
          <a:p>
            <a:endParaRPr lang="en-US" b="1" dirty="0"/>
          </a:p>
          <a:p>
            <a:r>
              <a:rPr lang="en-US" dirty="0"/>
              <a:t>The proposed solution is a multi-agent AI-powered </a:t>
            </a:r>
            <a:r>
              <a:rPr lang="en-US" dirty="0" err="1"/>
              <a:t>LearnMate</a:t>
            </a:r>
            <a:r>
              <a:rPr lang="en-US" dirty="0"/>
              <a:t> system built using </a:t>
            </a:r>
            <a:r>
              <a:rPr lang="en-US" b="1" dirty="0" err="1"/>
              <a:t>LangFlow</a:t>
            </a:r>
            <a:r>
              <a:rPr lang="en-US" b="1" dirty="0"/>
              <a:t>, IBM watsonx.ai, and Granite Models</a:t>
            </a:r>
            <a:r>
              <a:rPr lang="en-US" dirty="0"/>
              <a:t> to provide personalized course pathways for students.</a:t>
            </a:r>
          </a:p>
          <a:p>
            <a:r>
              <a:rPr lang="en-US" dirty="0"/>
              <a:t>The system interacts with students step by step to understand their career goal, current skills, skill level, study hours, timeline, and learning preference. Based on this information, Granite models generate a personalized learning roadmap with topics, projects, milestones, and weekly study plans.</a:t>
            </a:r>
          </a:p>
          <a:p>
            <a:endParaRPr lang="en-US" dirty="0"/>
          </a:p>
          <a:p>
            <a:r>
              <a:rPr lang="en-US" dirty="0"/>
              <a:t>The system consists of four key agents:</a:t>
            </a:r>
          </a:p>
          <a:p>
            <a:r>
              <a:rPr lang="en-US" b="1" dirty="0"/>
              <a:t>Goal Understanding Agent</a:t>
            </a:r>
            <a:r>
              <a:rPr lang="en-US" dirty="0"/>
              <a:t> - Identifies what the student wants to learn or become.</a:t>
            </a:r>
          </a:p>
          <a:p>
            <a:r>
              <a:rPr lang="en-US" b="1" dirty="0"/>
              <a:t>Skill Assessment Agent</a:t>
            </a:r>
            <a:r>
              <a:rPr lang="en-US" dirty="0"/>
              <a:t> - Understands current skills and classifies the student as Beginner, Intermediate, or Advanced.</a:t>
            </a:r>
          </a:p>
          <a:p>
            <a:r>
              <a:rPr lang="en-US" b="1" dirty="0"/>
              <a:t>Roadmap Generation Agent</a:t>
            </a:r>
            <a:r>
              <a:rPr lang="en-US" dirty="0"/>
              <a:t> - Creates a personalized course pathway based on the student’s answers.</a:t>
            </a:r>
          </a:p>
          <a:p>
            <a:r>
              <a:rPr lang="en-US" b="1" dirty="0"/>
              <a:t>Progress Tracking Agent</a:t>
            </a:r>
            <a:r>
              <a:rPr lang="en-US" dirty="0"/>
              <a:t> - Tracks learning progress and updates the roadmap when needed.</a:t>
            </a:r>
          </a:p>
          <a:p>
            <a:endParaRPr lang="en-US" dirty="0"/>
          </a:p>
          <a:p>
            <a:r>
              <a:rPr lang="en-US" dirty="0"/>
              <a:t>The solution also includes a simple dashboard to show the roadmap, weekly plan, milestones, progress, and skill gaps.</a:t>
            </a:r>
          </a:p>
          <a:p>
            <a:r>
              <a:rPr lang="en-US" dirty="0" err="1"/>
              <a:t>LangFlow</a:t>
            </a:r>
            <a:r>
              <a:rPr lang="en-US" dirty="0"/>
              <a:t> is used to manage the workflow, while IBM watsonx.ai and Granite models power reasoning, personalization, and roadmap generation.</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1146673"/>
            <a:ext cx="8823960" cy="5262979"/>
          </a:xfrm>
          <a:prstGeom prst="rect">
            <a:avLst/>
          </a:prstGeom>
          <a:noFill/>
        </p:spPr>
        <p:txBody>
          <a:bodyPr wrap="square" rtlCol="0">
            <a:spAutoFit/>
          </a:bodyPr>
          <a:lstStyle/>
          <a:p>
            <a:endParaRPr lang="en-US" dirty="0"/>
          </a:p>
          <a:p>
            <a:pPr marL="342900" indent="-342900">
              <a:buFont typeface="+mj-lt"/>
              <a:buAutoNum type="arabicPeriod"/>
            </a:pPr>
            <a:r>
              <a:rPr lang="en-US" b="1" dirty="0"/>
              <a:t>Chat Input</a:t>
            </a:r>
            <a:r>
              <a:rPr lang="en-US" dirty="0"/>
              <a:t> - Interface where students enter their goals, skills, study time, timeline, and learning preferences.</a:t>
            </a:r>
          </a:p>
          <a:p>
            <a:pPr marL="342900" indent="-342900">
              <a:buFont typeface="+mj-lt"/>
              <a:buAutoNum type="arabicPeriod"/>
            </a:pPr>
            <a:endParaRPr lang="en-US" dirty="0"/>
          </a:p>
          <a:p>
            <a:pPr marL="342900" indent="-342900">
              <a:buFont typeface="+mj-lt"/>
              <a:buAutoNum type="arabicPeriod"/>
            </a:pPr>
            <a:r>
              <a:rPr lang="en-US" b="1" dirty="0"/>
              <a:t>Prompt Template</a:t>
            </a:r>
            <a:r>
              <a:rPr lang="en-US" dirty="0"/>
              <a:t> - Structures the interview flow and gives instructions to the AI for asking step-by-step questions and generating the roadmap.</a:t>
            </a:r>
          </a:p>
          <a:p>
            <a:pPr marL="342900" indent="-342900">
              <a:buFont typeface="+mj-lt"/>
              <a:buAutoNum type="arabicPeriod"/>
            </a:pPr>
            <a:endParaRPr lang="en-US" dirty="0"/>
          </a:p>
          <a:p>
            <a:pPr marL="342900" indent="-342900">
              <a:buFont typeface="+mj-lt"/>
              <a:buAutoNum type="arabicPeriod"/>
            </a:pPr>
            <a:r>
              <a:rPr lang="en-US" b="1" dirty="0"/>
              <a:t>Message History</a:t>
            </a:r>
            <a:r>
              <a:rPr lang="en-US" dirty="0"/>
              <a:t> - Stores and retrieves previous chat messages so the AI remembers earlier answers.</a:t>
            </a:r>
          </a:p>
          <a:p>
            <a:pPr marL="342900" indent="-342900">
              <a:buFont typeface="+mj-lt"/>
              <a:buAutoNum type="arabicPeriod"/>
            </a:pPr>
            <a:endParaRPr lang="en-US" dirty="0"/>
          </a:p>
          <a:p>
            <a:pPr marL="342900" indent="-342900">
              <a:buFont typeface="+mj-lt"/>
              <a:buAutoNum type="arabicPeriod"/>
            </a:pPr>
            <a:r>
              <a:rPr lang="en-US" b="1" dirty="0"/>
              <a:t>Language Model</a:t>
            </a:r>
            <a:r>
              <a:rPr lang="en-US" dirty="0"/>
              <a:t> - Processes the prompt and generates personalized learning guidance using IBM Granite.</a:t>
            </a:r>
          </a:p>
          <a:p>
            <a:pPr marL="342900" indent="-342900">
              <a:buFont typeface="+mj-lt"/>
              <a:buAutoNum type="arabicPeriod"/>
            </a:pPr>
            <a:endParaRPr lang="en-US" dirty="0"/>
          </a:p>
          <a:p>
            <a:pPr marL="342900" indent="-342900">
              <a:buFont typeface="+mj-lt"/>
              <a:buAutoNum type="arabicPeriod"/>
            </a:pPr>
            <a:r>
              <a:rPr lang="en-US" b="1" dirty="0"/>
              <a:t>Name of IBM Granite Model</a:t>
            </a:r>
            <a:r>
              <a:rPr lang="en-US" dirty="0"/>
              <a:t> - </a:t>
            </a:r>
            <a:r>
              <a:rPr lang="en-US" dirty="0" err="1"/>
              <a:t>ibm</a:t>
            </a:r>
            <a:r>
              <a:rPr lang="en-US" dirty="0"/>
              <a:t>/granite-8b-code-instruct</a:t>
            </a:r>
          </a:p>
          <a:p>
            <a:pPr marL="342900" indent="-342900">
              <a:buFont typeface="+mj-lt"/>
              <a:buAutoNum type="arabicPeriod"/>
            </a:pPr>
            <a:endParaRPr lang="en-US" dirty="0"/>
          </a:p>
          <a:p>
            <a:pPr marL="342900" indent="-342900">
              <a:buFont typeface="+mj-lt"/>
              <a:buAutoNum type="arabicPeriod"/>
            </a:pPr>
            <a:r>
              <a:rPr lang="en-US" b="1" dirty="0"/>
              <a:t>Chat Output</a:t>
            </a:r>
            <a:r>
              <a:rPr lang="en-US" dirty="0"/>
              <a:t> - Displays AI-generated responses such as questions, personalized roadmap, weekly plan, milestones, and progress guidance.</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1BF3590-52D3-DC9D-2C84-E66D9597D77D}"/>
              </a:ext>
            </a:extLst>
          </p:cNvPr>
          <p:cNvPicPr>
            <a:picLocks noChangeAspect="1"/>
          </p:cNvPicPr>
          <p:nvPr/>
        </p:nvPicPr>
        <p:blipFill>
          <a:blip r:embed="rId3"/>
          <a:srcRect/>
          <a:stretch/>
        </p:blipFill>
        <p:spPr>
          <a:xfrm>
            <a:off x="1659506" y="1066220"/>
            <a:ext cx="9079522" cy="5544892"/>
          </a:xfrm>
          <a:prstGeom prst="rect">
            <a:avLst/>
          </a:prstGeom>
        </p:spPr>
      </p:pic>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a:blip r:embed="rId3">
            <a:alphaModFix/>
          </a:blip>
          <a:srcRect/>
          <a:stretch/>
        </p:blipFill>
        <p:spPr>
          <a:xfrm>
            <a:off x="959254" y="921945"/>
            <a:ext cx="9978339" cy="5612816"/>
          </a:xfrm>
          <a:prstGeom prst="rect">
            <a:avLst/>
          </a:prstGeom>
          <a:noFill/>
          <a:ln>
            <a:solidFill>
              <a:schemeClr val="tx1"/>
            </a:solid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in Nutrition Agent</a:t>
            </a:r>
          </a:p>
          <a:p>
            <a:r>
              <a:rPr lang="en-US" b="1" dirty="0"/>
              <a:t>Agentic AI</a:t>
            </a:r>
            <a:r>
              <a:rPr lang="en-US" dirty="0"/>
              <a:t> enables the Nutrition Agent to function as an intelligent, autonomous system rather than a simple chatbot. Using </a:t>
            </a:r>
            <a:r>
              <a:rPr lang="en-US" b="1" dirty="0"/>
              <a:t>IBM watsonx.ai</a:t>
            </a:r>
            <a:r>
              <a:rPr lang="en-US" dirty="0"/>
              <a:t> and </a:t>
            </a:r>
            <a:r>
              <a:rPr lang="en-US" b="1" dirty="0"/>
              <a:t>IBM Granite models</a:t>
            </a:r>
            <a:r>
              <a:rPr lang="en-US" dirty="0"/>
              <a:t>, it coordinates multiple specialized agents to deliver personalized nutrition guidance.</a:t>
            </a:r>
          </a:p>
          <a:p>
            <a:r>
              <a:rPr lang="en-US" dirty="0"/>
              <a:t>Each agent performs a specific role—such as retrieving nutritional data, generating diet plans, providing health advice, and analyzing food logs—while 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details like age, health conditions, and fitness goals to generate tailored recommendations. It supports </a:t>
            </a:r>
            <a:r>
              <a:rPr lang="en-US" b="1" dirty="0"/>
              <a:t>real-time adaptation</a:t>
            </a:r>
            <a:r>
              <a:rPr lang="en-US" dirty="0"/>
              <a:t>, continuously updating suggestions based on user inputs like daily meals.</a:t>
            </a:r>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digital nutritionist</a:t>
            </a:r>
            <a:r>
              <a:rPr lang="en-US" dirty="0"/>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334330"/>
            <a:ext cx="10515600" cy="3293209"/>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dirty="0"/>
              <a:t> – Used to design and manage the </a:t>
            </a:r>
            <a:r>
              <a:rPr lang="en-US" sz="1800" dirty="0" err="1"/>
              <a:t>LearnMate</a:t>
            </a:r>
            <a:r>
              <a:rPr lang="en-US" sz="1800" dirty="0"/>
              <a:t> AI workflow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Granite Model</a:t>
            </a:r>
            <a:r>
              <a:rPr lang="en-US" sz="1800" dirty="0"/>
              <a:t> – Used for natural language understanding, skill assessment, and personalized roadmap generation.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Lite</a:t>
            </a:r>
            <a:r>
              <a:rPr lang="en-US" sz="1800" dirty="0"/>
              <a:t> – Provides the cloud infrastructure to run and manage the </a:t>
            </a:r>
            <a:r>
              <a:rPr lang="en-US" sz="1800" dirty="0" err="1"/>
              <a:t>LearnMate</a:t>
            </a:r>
            <a:r>
              <a:rPr lang="en-US" sz="1800" dirty="0"/>
              <a:t> application.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a:t>
            </a:r>
            <a:r>
              <a:rPr lang="en-US" sz="1800" dirty="0"/>
              <a:t> – Used to access and deploy IBM Granite models for AI-powered recommendations.</a:t>
            </a:r>
          </a:p>
          <a:p>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524315"/>
          </a:xfrm>
          <a:prstGeom prst="rect">
            <a:avLst/>
          </a:prstGeom>
          <a:noFill/>
        </p:spPr>
        <p:txBody>
          <a:bodyPr wrap="square" rtlCol="0">
            <a:spAutoFit/>
          </a:bodyPr>
          <a:lstStyle/>
          <a:p>
            <a:r>
              <a:rPr lang="en-US" sz="1800" b="1" dirty="0"/>
              <a:t>Agentic AI Approach</a:t>
            </a:r>
            <a:r>
              <a:rPr lang="en-US" sz="1800" dirty="0"/>
              <a:t> – Interacts with students and collects information step-by-step before making recommendations.</a:t>
            </a:r>
          </a:p>
          <a:p>
            <a:endParaRPr lang="en-US" sz="1800" dirty="0"/>
          </a:p>
          <a:p>
            <a:r>
              <a:rPr lang="en-US" sz="1800" b="1" dirty="0"/>
              <a:t>Personalized Learning Paths</a:t>
            </a:r>
            <a:r>
              <a:rPr lang="en-US" sz="1800" dirty="0"/>
              <a:t> – Generates customized roadmaps based on career goals, skills, and study time.</a:t>
            </a:r>
          </a:p>
          <a:p>
            <a:endParaRPr lang="en-US" sz="1800" dirty="0"/>
          </a:p>
          <a:p>
            <a:r>
              <a:rPr lang="en-US" sz="1800" b="1" dirty="0"/>
              <a:t>Skill Assessment</a:t>
            </a:r>
            <a:r>
              <a:rPr lang="en-US" sz="1800" dirty="0"/>
              <a:t> – Identifies the student's current level and suggests suitable learning plans.</a:t>
            </a:r>
          </a:p>
          <a:p>
            <a:endParaRPr lang="en-US" sz="1800" dirty="0"/>
          </a:p>
          <a:p>
            <a:r>
              <a:rPr lang="en-US" sz="1800" b="1" dirty="0"/>
              <a:t>Dynamic Roadmap Generation</a:t>
            </a:r>
            <a:r>
              <a:rPr lang="en-US" sz="1800" dirty="0"/>
              <a:t> – Provides structured learning plans, projects, and milestones.</a:t>
            </a:r>
          </a:p>
          <a:p>
            <a:endParaRPr lang="en-US" sz="1800" dirty="0"/>
          </a:p>
          <a:p>
            <a:r>
              <a:rPr lang="en-US" sz="1800" b="1" dirty="0"/>
              <a:t>Career-Focused Guidance</a:t>
            </a:r>
            <a:r>
              <a:rPr lang="en-US" sz="1800" dirty="0"/>
              <a:t> – Supports multiple domains such as Frontend Development, UI/UX Design, and Cybersecurity.</a:t>
            </a:r>
          </a:p>
          <a:p>
            <a:endParaRPr lang="en-US" sz="1800" dirty="0"/>
          </a:p>
          <a:p>
            <a:r>
              <a:rPr lang="en-US" sz="1800" b="1" dirty="0"/>
              <a:t>IBM Granite Powered</a:t>
            </a:r>
            <a:r>
              <a:rPr lang="en-US" sz="1800" dirty="0"/>
              <a:t> – Uses IBM Granite models through IBM watsonx.ai for intelligent recommendations.</a:t>
            </a:r>
          </a:p>
          <a:p>
            <a:endParaRPr lang="en-US" sz="1800" dirty="0"/>
          </a:p>
          <a:p>
            <a:r>
              <a:rPr lang="en-US" sz="1800" b="1" dirty="0"/>
              <a:t>Scalable Solution</a:t>
            </a:r>
            <a:r>
              <a:rPr lang="en-US" sz="1800" dirty="0"/>
              <a:t> – Built using </a:t>
            </a:r>
            <a:r>
              <a:rPr lang="en-US" sz="1800" dirty="0" err="1"/>
              <a:t>Langflow</a:t>
            </a:r>
            <a:r>
              <a:rPr lang="en-US" sz="1800" dirty="0"/>
              <a:t>, IBM watsonx.ai, and IBM Cloud Lite.</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r>
              <a:rPr lang="en-US" sz="1850">
                <a:solidFill>
                  <a:srgbClr val="2B3541"/>
                </a:solidFill>
                <a:latin typeface="Times New Roman"/>
                <a:ea typeface="Times New Roman"/>
                <a:cs typeface="Times New Roman"/>
                <a:sym typeface="Times New Roman"/>
              </a:rPr>
              <a:t>– https://github.com/tannu97/learnmate-agentic-ai</a:t>
            </a:r>
            <a:endParaRPr lang="en-US" sz="1850" dirty="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err="1">
                <a:solidFill>
                  <a:srgbClr val="2B3541"/>
                </a:solidFill>
                <a:latin typeface="Times New Roman"/>
                <a:ea typeface="Times New Roman"/>
                <a:cs typeface="Times New Roman"/>
                <a:sym typeface="Times New Roman"/>
              </a:rPr>
              <a:t>Youtube</a:t>
            </a:r>
            <a:r>
              <a:rPr lang="en-US" sz="1850" dirty="0">
                <a:solidFill>
                  <a:srgbClr val="2B3541"/>
                </a:solidFill>
                <a:latin typeface="Times New Roman"/>
                <a:ea typeface="Times New Roman"/>
                <a:cs typeface="Times New Roman"/>
                <a:sym typeface="Times New Roman"/>
              </a:rPr>
              <a:t> </a:t>
            </a:r>
            <a:r>
              <a:rPr lang="en-US" sz="1850" dirty="0" err="1">
                <a:solidFill>
                  <a:srgbClr val="2B3541"/>
                </a:solidFill>
                <a:latin typeface="Times New Roman"/>
                <a:ea typeface="Times New Roman"/>
                <a:cs typeface="Times New Roman"/>
                <a:sym typeface="Times New Roman"/>
              </a:rPr>
              <a:t>vedio</a:t>
            </a:r>
            <a:r>
              <a:rPr lang="en-US" sz="1850" dirty="0">
                <a:solidFill>
                  <a:srgbClr val="2B3541"/>
                </a:solidFill>
                <a:latin typeface="Times New Roman"/>
                <a:ea typeface="Times New Roman"/>
                <a:cs typeface="Times New Roman"/>
                <a:sym typeface="Times New Roman"/>
              </a:rPr>
              <a:t> : https://youtu.be/ClUXAJdLvPw</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696488"/>
            <a:ext cx="9214580" cy="4277001"/>
          </a:xfrm>
          <a:prstGeom prst="rect">
            <a:avLst/>
          </a:prstGeom>
          <a:noFill/>
          <a:ln>
            <a:noFill/>
          </a:ln>
        </p:spPr>
        <p:txBody>
          <a:bodyPr spcFirstLastPara="1" wrap="square" lIns="0" tIns="0" rIns="0" bIns="0" anchor="t" anchorCtr="0">
            <a:noAutofit/>
          </a:bodyPr>
          <a:lstStyle/>
          <a:p>
            <a:pPr marL="457200" indent="-457200">
              <a:buAutoNum type="arabicPeriod"/>
            </a:pPr>
            <a:r>
              <a:rPr lang="en-US" sz="2000" b="1" dirty="0"/>
              <a:t>Progress Tracking &amp; Adaptive Learning</a:t>
            </a:r>
            <a:br>
              <a:rPr lang="en-US" sz="2000" dirty="0"/>
            </a:br>
            <a:r>
              <a:rPr lang="en-US" sz="2000" dirty="0"/>
              <a:t>The system can track student progress and automatically update learning roadmaps based on completed skills and performance.</a:t>
            </a:r>
          </a:p>
          <a:p>
            <a:pPr marL="457200" indent="-457200">
              <a:buAutoNum type="arabicPeriod"/>
            </a:pPr>
            <a:endParaRPr lang="en-US" sz="2000" dirty="0"/>
          </a:p>
          <a:p>
            <a:pPr marL="457200" indent="-457200">
              <a:buAutoNum type="arabicPeriod"/>
            </a:pPr>
            <a:endParaRPr lang="en-US" sz="2000" dirty="0"/>
          </a:p>
          <a:p>
            <a:r>
              <a:rPr lang="en-US" sz="2000" b="1" dirty="0"/>
              <a:t>2. RAG-Based Course Recommendations</a:t>
            </a:r>
            <a:br>
              <a:rPr lang="en-US" sz="2000" dirty="0"/>
            </a:br>
            <a:r>
              <a:rPr lang="en-US" sz="2000" dirty="0"/>
              <a:t>Integration with RAG and educational resources can provide more accurate, up-to-date, and personalized course recommendations.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1389</TotalTime>
  <Words>1116</Words>
  <Application>Microsoft Office PowerPoint</Application>
  <PresentationFormat>Widescreen</PresentationFormat>
  <Paragraphs>125</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himanshu sehrawat</cp:lastModifiedBy>
  <cp:revision>23</cp:revision>
  <dcterms:created xsi:type="dcterms:W3CDTF">2025-07-08T05:06:56Z</dcterms:created>
  <dcterms:modified xsi:type="dcterms:W3CDTF">2026-06-02T03:53:37Z</dcterms:modified>
</cp:coreProperties>
</file>